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YOUR_SURVEY_LINK_HERE" TargetMode="External"/><Relationship Id="rId2" Type="http://schemas.openxmlformats.org/officeDocument/2006/relationships/hyperlink" Target="YOUR_TRANSCRIPTS_LINK_HE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YOUR_VERCEL_PROTOTYPE_LINK_HE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outputs look polished and complete — but users have no way to tell when they're actually good enough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6118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6118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7899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creates blind spots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 in seconds. Professionals under pressure take the output at face value — only to discover errors downstream in real work.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6118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960120"/>
            <a:ext cx="36118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07899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1783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 masks weak reasoning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2395728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Fluent, well-formatted answers are harder to challenge. Users mistake confident tone for correctness — even when logic is shallow or context is missing.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960120"/>
            <a:ext cx="36118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960120"/>
            <a:ext cx="36118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07899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🔀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366760" y="1783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is entirely ad-hoc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395728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rely on gut feel, re-posting to multiple AIs, or asking colleagues. Slow, inconsistent, and doesn't scale to high-stakes tasks.</a:t>
            </a:r>
            <a:endParaRPr lang="en-US" sz="125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4434840"/>
          <a:ext cx="11247118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837"/>
                <a:gridCol w="2586837"/>
                <a:gridCol w="3824020"/>
                <a:gridCol w="2249424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Solution Type</a:t>
                      </a:r>
                    </a:p>
                  </a:txBody>
                  <a:tcPr marL="100000" marR="100000" marT="80000" marB="8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Focus Area</a:t>
                      </a:r>
                    </a:p>
                  </a:txBody>
                  <a:tcPr marL="100000" marR="100000" marT="80000" marB="8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Core Failure / Limitation</a:t>
                      </a:r>
                    </a:p>
                  </a:txBody>
                  <a:tcPr marL="100000" marR="100000" marT="80000" marB="800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Perceived vs. Actual Quality Gap</a:t>
                      </a:r>
                    </a:p>
                  </a:txBody>
                  <a:tcPr marL="100000" marR="100000" marT="80000" marB="80000">
                    <a:solidFill>
                      <a:srgbClr val="1E3A5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0F0F0"/>
                          </a:solidFill>
                          <a:latin typeface="Arial"/>
                        </a:rPr>
                        <a:t>Basic Citations &amp; Links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F0F0F0"/>
                          </a:solidFill>
                          <a:latin typeface="Arial"/>
                        </a:rPr>
                        <a:t>(Perplexity, Gemini)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Web source attribution &amp; raw links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Convincing URLs are easily spoofed; users rarely click through to verify.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High perceived quality, but hides stale data and source mismatches.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0F0F0"/>
                          </a:solidFill>
                          <a:latin typeface="Arial"/>
                        </a:rPr>
                        <a:t>Fact-Checkers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F0F0F0"/>
                          </a:solidFill>
                          <a:latin typeface="Arial"/>
                        </a:rPr>
                        <a:t>(Hallucination tools)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Factual validity checks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Treats trust as binary correctness; ignores logic, code safety, or tone.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Mismatches cognitive load, leading to alert fatigue.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0F0F0"/>
                          </a:solidFill>
                          <a:latin typeface="Arial"/>
                        </a:rPr>
                        <a:t>Opaque "Trust Scores"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F0F0F0"/>
                          </a:solidFill>
                          <a:latin typeface="Arial"/>
                        </a:rPr>
                        <a:t>(Generic badges/scores)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Percentage-based indicators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Encourages authority bias; users stop reading the text and trust the score.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0F0F0"/>
                          </a:solidFill>
                          <a:latin typeface="Arial"/>
                        </a:rPr>
                        <a:t>Promotes cognitive laziness rather than critical thinking.</a:t>
                      </a:r>
                    </a:p>
                  </a:txBody>
                  <a:tcPr marL="100000" marR="100000" marT="80000" marB="80000">
                    <a:solidFill>
                      <a:srgbClr val="0D1B2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B4D8"/>
                          </a:solidFill>
                          <a:latin typeface="Arial"/>
                        </a:rPr>
                        <a:t>Progressive Evaluation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00B4D8"/>
                          </a:solidFill>
                          <a:latin typeface="Arial"/>
                        </a:rPr>
                        <a:t>(Our Selected Concept)</a:t>
                      </a:r>
                    </a:p>
                  </a:txBody>
                  <a:tcPr marL="100000" marR="100000" marT="80000" marB="80000">
                    <a:solidFill>
                      <a:srgbClr val="1226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B4D8"/>
                          </a:solidFill>
                          <a:latin typeface="Arial"/>
                        </a:rPr>
                        <a:t>Contextual peer-agent lenses on demand</a:t>
                      </a:r>
                    </a:p>
                  </a:txBody>
                  <a:tcPr marL="100000" marR="100000" marT="80000" marB="80000">
                    <a:solidFill>
                      <a:srgbClr val="1226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B4D8"/>
                          </a:solidFill>
                          <a:latin typeface="Arial"/>
                        </a:rPr>
                        <a:t>Requires active opt-in; no auto-pass grades.</a:t>
                      </a:r>
                    </a:p>
                  </a:txBody>
                  <a:tcPr marL="100000" marR="100000" marT="80000" marB="80000">
                    <a:solidFill>
                      <a:srgbClr val="1226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B4D8"/>
                          </a:solidFill>
                          <a:latin typeface="Arial"/>
                        </a:rPr>
                        <a:t>Calibrates trust at the exact moment of decision.</a:t>
                      </a:r>
                    </a:p>
                  </a:txBody>
                  <a:tcPr marL="100000" marR="100000" marT="80000" marB="80000">
                    <a:solidFill>
                      <a:srgbClr val="1226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0000"/>
            <a:ext cx="1124712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C36A4F"/>
                </a:solidFill>
                <a:latin typeface="Georgia"/>
              </a:rPr>
              <a:t>✳  </a:t>
            </a:r>
            <a:r>
              <a:rPr sz="2300" b="1">
                <a:solidFill>
                  <a:srgbClr val="191919"/>
                </a:solidFill>
                <a:latin typeface="Georgia"/>
              </a:rPr>
              <a:t>No Layer Between Intent and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00000"/>
            <a:ext cx="3549040" cy="2400000"/>
          </a:xfrm>
          <a:prstGeom prst="roundRect">
            <a:avLst/>
          </a:prstGeom>
          <a:solidFill>
            <a:srgbClr val="C3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7200" y="1180000"/>
            <a:ext cx="3249040" cy="3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What is the True Problem?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200" y="1580000"/>
            <a:ext cx="3249040" cy="17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sz="1050" b="1">
                <a:solidFill>
                  <a:srgbClr val="191919"/>
                </a:solidFill>
                <a:latin typeface="Arial"/>
              </a:rPr>
              <a:t>No structured evaluation layer</a:t>
            </a:r>
            <a:r>
              <a:rPr sz="1050" b="0">
                <a:solidFill>
                  <a:srgbClr val="191919"/>
                </a:solidFill>
                <a:latin typeface="Arial"/>
              </a:rPr>
              <a:t> exists between a user's intent and Claude's execution. Claude </a:t>
            </a:r>
            <a:r>
              <a:rPr sz="1050" b="1">
                <a:solidFill>
                  <a:srgbClr val="191919"/>
                </a:solidFill>
                <a:latin typeface="Arial"/>
              </a:rPr>
              <a:t>decides silently</a:t>
            </a:r>
            <a:r>
              <a:rPr sz="1050" b="0">
                <a:solidFill>
                  <a:srgbClr val="191919"/>
                </a:solidFill>
                <a:latin typeface="Arial"/>
              </a:rPr>
              <a:t> which capability or reasoning path to use. The user never sees it, never learns from it, and loses agency. Claude was built for speed, and silently </a:t>
            </a:r>
            <a:r>
              <a:rPr sz="1050" b="1">
                <a:solidFill>
                  <a:srgbClr val="191919"/>
                </a:solidFill>
                <a:latin typeface="Arial"/>
              </a:rPr>
              <a:t>removed user agency</a:t>
            </a:r>
            <a:r>
              <a:rPr sz="1050" b="0">
                <a:solidFill>
                  <a:srgbClr val="191919"/>
                </a:solidFill>
                <a:latin typeface="Arial"/>
              </a:rPr>
              <a:t> in the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6240" y="2950000"/>
            <a:ext cx="350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/>
            </a:pPr>
            <a:r>
              <a:t>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240" y="1100000"/>
            <a:ext cx="3549040" cy="2400000"/>
          </a:xfrm>
          <a:prstGeom prst="roundRect">
            <a:avLst/>
          </a:prstGeom>
          <a:solidFill>
            <a:srgbClr val="C3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6240" y="1180000"/>
            <a:ext cx="3249040" cy="3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Who faces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6240" y="1580000"/>
            <a:ext cx="3249040" cy="17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sz="1050" b="1">
                <a:solidFill>
                  <a:srgbClr val="191919"/>
                </a:solidFill>
                <a:latin typeface="Arial"/>
              </a:rPr>
              <a:t>Working professionals</a:t>
            </a:r>
            <a:r>
              <a:rPr sz="1050" b="0">
                <a:solidFill>
                  <a:srgbClr val="191919"/>
                </a:solidFill>
                <a:latin typeface="Arial"/>
              </a:rPr>
              <a:t> using Claude for high-stakes knowledge work daily.
Our Research:
•  </a:t>
            </a:r>
            <a:r>
              <a:rPr sz="1050" b="1">
                <a:solidFill>
                  <a:srgbClr val="191919"/>
                </a:solidFill>
                <a:latin typeface="Arial"/>
              </a:rPr>
              <a:t>71%</a:t>
            </a:r>
            <a:r>
              <a:rPr sz="1050" b="0">
                <a:solidFill>
                  <a:srgbClr val="191919"/>
                </a:solidFill>
                <a:latin typeface="Arial"/>
              </a:rPr>
              <a:t> of surveyed users rate their tasks as </a:t>
            </a:r>
            <a:r>
              <a:rPr sz="1050" b="1">
                <a:solidFill>
                  <a:srgbClr val="191919"/>
                </a:solidFill>
                <a:latin typeface="Arial"/>
              </a:rPr>
              <a:t>high-stakes</a:t>
            </a:r>
            <a:r>
              <a:rPr sz="1050" b="0">
                <a:solidFill>
                  <a:srgbClr val="191919"/>
                </a:solidFill>
                <a:latin typeface="Arial"/>
              </a:rPr>
              <a:t>.
•  </a:t>
            </a:r>
            <a:r>
              <a:rPr sz="1050" b="1">
                <a:solidFill>
                  <a:srgbClr val="191919"/>
                </a:solidFill>
                <a:latin typeface="Arial"/>
              </a:rPr>
              <a:t>85%</a:t>
            </a:r>
            <a:r>
              <a:rPr sz="1050" b="0">
                <a:solidFill>
                  <a:srgbClr val="191919"/>
                </a:solidFill>
                <a:latin typeface="Arial"/>
              </a:rPr>
              <a:t> interact with AI tools </a:t>
            </a:r>
            <a:r>
              <a:rPr sz="1050" b="1">
                <a:solidFill>
                  <a:srgbClr val="191919"/>
                </a:solidFill>
                <a:latin typeface="Arial"/>
              </a:rPr>
              <a:t>daily</a:t>
            </a:r>
            <a:r>
              <a:rPr sz="1050" b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5280" y="1100000"/>
            <a:ext cx="3549040" cy="2400000"/>
          </a:xfrm>
          <a:prstGeom prst="roundRect">
            <a:avLst/>
          </a:prstGeom>
          <a:solidFill>
            <a:srgbClr val="C3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280" y="1180000"/>
            <a:ext cx="3249040" cy="3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How do we know it's real?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5280" y="1580000"/>
            <a:ext cx="3249040" cy="17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sz="1050" b="0">
                <a:solidFill>
                  <a:srgbClr val="191919"/>
                </a:solidFill>
                <a:latin typeface="Arial"/>
              </a:rPr>
              <a:t>Users are trapped between blind trust and exhausting skepticism:
•  </a:t>
            </a:r>
            <a:r>
              <a:rPr sz="1050" b="1">
                <a:solidFill>
                  <a:srgbClr val="191919"/>
                </a:solidFill>
                <a:latin typeface="Arial"/>
              </a:rPr>
              <a:t>30% Over-trust</a:t>
            </a:r>
            <a:r>
              <a:rPr sz="1050" b="0">
                <a:solidFill>
                  <a:srgbClr val="191919"/>
                </a:solidFill>
                <a:latin typeface="Arial"/>
              </a:rPr>
              <a:t> (Fluency Bias Trap)
•  </a:t>
            </a:r>
            <a:r>
              <a:rPr sz="1050" b="1">
                <a:solidFill>
                  <a:srgbClr val="191919"/>
                </a:solidFill>
                <a:latin typeface="Arial"/>
              </a:rPr>
              <a:t>37% Skeptic Trap</a:t>
            </a:r>
            <a:r>
              <a:rPr sz="1050" b="0">
                <a:solidFill>
                  <a:srgbClr val="191919"/>
                </a:solidFill>
                <a:latin typeface="Arial"/>
              </a:rPr>
              <a:t> (re-checking endlessly)
</a:t>
            </a:r>
            <a:r>
              <a:rPr sz="1050" b="1">
                <a:solidFill>
                  <a:srgbClr val="191919"/>
                </a:solidFill>
                <a:latin typeface="Arial"/>
              </a:rPr>
              <a:t>*Grounded in: 35 surveys + 6 interviews + 2 task observations*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50000"/>
            <a:ext cx="7398080" cy="2650000"/>
          </a:xfrm>
          <a:prstGeom prst="roundRect">
            <a:avLst/>
          </a:prstGeom>
          <a:solidFill>
            <a:srgbClr val="C3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200" y="3830000"/>
            <a:ext cx="7098080" cy="3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What value does solving it generate?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200" y="4230000"/>
            <a:ext cx="3449040" cy="20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sz="1050" b="1">
                <a:solidFill>
                  <a:srgbClr val="191919"/>
                </a:solidFill>
                <a:latin typeface="Arial"/>
              </a:rPr>
              <a:t>For Users
</a:t>
            </a:r>
            <a:r>
              <a:rPr sz="1050" b="0">
                <a:solidFill>
                  <a:srgbClr val="191919"/>
                </a:solidFill>
                <a:latin typeface="Arial"/>
              </a:rPr>
              <a:t>•  </a:t>
            </a:r>
            <a:r>
              <a:rPr sz="1050" b="1">
                <a:solidFill>
                  <a:srgbClr val="191919"/>
                </a:solidFill>
                <a:latin typeface="Arial"/>
              </a:rPr>
              <a:t>Calibrated confidence</a:t>
            </a:r>
            <a:r>
              <a:rPr sz="1050" b="0">
                <a:solidFill>
                  <a:srgbClr val="191919"/>
                </a:solidFill>
                <a:latin typeface="Arial"/>
              </a:rPr>
              <a:t> in outputs, removing the need to endlessly recheck stable results.
•  Significant </a:t>
            </a:r>
            <a:r>
              <a:rPr sz="1050" b="1">
                <a:solidFill>
                  <a:srgbClr val="191919"/>
                </a:solidFill>
                <a:latin typeface="Arial"/>
              </a:rPr>
              <a:t>speedups in auditing</a:t>
            </a:r>
            <a:r>
              <a:rPr sz="1050" b="0">
                <a:solidFill>
                  <a:srgbClr val="191919"/>
                </a:solidFill>
                <a:latin typeface="Arial"/>
              </a:rPr>
              <a:t> and risk avoidance on high-stakes 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6240" y="4230000"/>
            <a:ext cx="3449040" cy="20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sz="1050" b="1">
                <a:solidFill>
                  <a:srgbClr val="191919"/>
                </a:solidFill>
                <a:latin typeface="Arial"/>
              </a:rPr>
              <a:t>For Anthropic
</a:t>
            </a:r>
            <a:r>
              <a:rPr sz="1050" b="0">
                <a:solidFill>
                  <a:srgbClr val="191919"/>
                </a:solidFill>
                <a:latin typeface="Arial"/>
              </a:rPr>
              <a:t>•  Drives long-term retention and stickiness of Claude in high-stakes enterprise workflows.
•  Drives Pro &amp; Team upgrades by demonstrating clear, auditable logic that justifies subscription premiums.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5280" y="5850000"/>
            <a:ext cx="350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/>
            </a:pPr>
            <a:r>
              <a:t>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5280" y="3750000"/>
            <a:ext cx="3549040" cy="2650000"/>
          </a:xfrm>
          <a:prstGeom prst="roundRect">
            <a:avLst/>
          </a:prstGeom>
          <a:solidFill>
            <a:srgbClr val="C3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280" y="3830000"/>
            <a:ext cx="3249040" cy="3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Why should we solve this now?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5280" y="4230000"/>
            <a:ext cx="3249040" cy="20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00000" bIns="100000"/>
          <a:lstStyle/>
          <a:p>
            <a:pPr algn="ctr"/>
            <a:r>
              <a:rPr sz="1050" b="0">
                <a:solidFill>
                  <a:srgbClr val="191919"/>
                </a:solidFill>
                <a:latin typeface="Arial"/>
              </a:rPr>
              <a:t>•  </a:t>
            </a:r>
            <a:r>
              <a:rPr sz="1050" b="1">
                <a:solidFill>
                  <a:srgbClr val="191919"/>
                </a:solidFill>
                <a:latin typeface="Arial"/>
              </a:rPr>
              <a:t>Trust is a habit</a:t>
            </a:r>
            <a:r>
              <a:rPr sz="1050" b="0">
                <a:solidFill>
                  <a:srgbClr val="191919"/>
                </a:solidFill>
                <a:latin typeface="Arial"/>
              </a:rPr>
              <a:t>. Every week users spend defaulting to blind copy-pasting or basic prompting reinforces bad habits.
•  The longer we delay introducing a structured evaluation layer, the harder it becomes to shift user behaviors.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4320" y="5850000"/>
            <a:ext cx="350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/>
            </a:pPr>
            <a:r>
              <a:t>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(n=35 survey · 6 interviews · 2 task sessions) reveals a calibration problem, not a hallucination problem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4173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daily or multiple times a day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51760" cy="1417320"/>
          </a:xfrm>
          <a:prstGeom prst="rect">
            <a:avLst/>
          </a:prstGeom>
          <a:solidFill>
            <a:srgbClr val="0096B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60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coding / business rules as high-stakes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651760" cy="1417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960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AI to surface uncertainty proactively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914400"/>
            <a:ext cx="2651760" cy="14173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9601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280" y="17190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moderate+ friction for safer outputs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1417320" cy="6126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87168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TRIGGER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2024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"Clear reasoning" is the #1 trust signal (78%). Users trust architecture decisions in code but are nervous about platform-specific details like keywords or pricing logic.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1417320" cy="6126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28416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OVER-TRUST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20240" y="34015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admit they trust outputs too easily and discover errors only after acting — often too late to avoid rework or financial damage.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1417320" cy="6126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69664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TRAP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20240" y="424281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double-check everything by re-posting to multiple AIs — losing 30–60 min per high-stakes task on unstructured verification that still isn't reliable.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5010912"/>
            <a:ext cx="1417320" cy="6126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010912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20240" y="50840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catch errors most often while editing or at the point of use — not during initial reading. Polished formatting actively delays the detection of flaws.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5852160"/>
            <a:ext cx="1417320" cy="6126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5852160"/>
            <a:ext cx="14173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20240" y="592531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keywords, client constraints, and niche rules are invisible to AI. Claude assumed 'instrumentType' instead of 'securityType' — causing a silent production failure.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professionals using AI for real, consequential tasks — and losing trust the moment outputs fail them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3200400" cy="58064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32004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7899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professionals &amp; domain experts using AI for high-stakes tasks daily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2697480"/>
            <a:ext cx="283464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8163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SEGMENT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315468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task stakes → errors have real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365760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Daily AI users → trust patterns are formed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416052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Domain knowledge → can detect gaps if supported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466344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Claude's core growth segment for Pro+ plans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5166360"/>
            <a:ext cx="283464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5257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targeting beginners (need onboarding) or pure domain experts (already have verification workflows).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960120"/>
            <a:ext cx="3931920" cy="5806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960120"/>
            <a:ext cx="39319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1920" y="1115568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11155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👨‍💻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92040" y="11704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Pratham, 24 — Software Developer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13632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Claude daily for WCF architecture, basket-order systems, and production code.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13632" y="2743200"/>
            <a:ext cx="118872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913632" y="27432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5072" y="30540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correct code fast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05072" y="33832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confident output is production-safe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13632" y="3803904"/>
            <a:ext cx="118872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913632" y="38039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NEED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05072" y="41148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parts of Claude's code to trust vs verify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05072" y="44439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that platform-specific logic was assumed, not known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13632" y="4864608"/>
            <a:ext cx="11887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3913632" y="4864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05072" y="51755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assumed 'instrumentType' — broke in prod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005072" y="55046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what assumptions were made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82128" y="960120"/>
            <a:ext cx="3931920" cy="5806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82128" y="960120"/>
            <a:ext cx="393192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8065008" y="1115568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11155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👩‍💼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025128" y="11704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Pavitra, 28 — MDM/PIM Consultant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046720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Claude to draft business rules, rewrite client messages, and run POCs for integrations.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46720" y="2743200"/>
            <a:ext cx="118872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27432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30540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client-ready output without manual rework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138160" y="33832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Claude's rules before testing on live data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46720" y="3803904"/>
            <a:ext cx="118872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38039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NEED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38160" y="41148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if Claude's rule logic matches her platform constraints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138160" y="44439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reasoning gaps before the client sees them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046720" y="4864608"/>
            <a:ext cx="11887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8046720" y="4864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138160" y="517550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gives lengthy answers with no signal on what's uncertain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138160" y="55046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from GPT to Claude for honesty — but still has no structured eval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 breaks down at 3 specific moments — not randomly, but because no structured evaluation layer exists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783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1078992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923544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describes task. Often forgets to mention platform constraints, stakes level, or domain-specific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32588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2258568" y="960120"/>
            <a:ext cx="1783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62072" y="1078992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50008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50008" y="214884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fast. Output looks authoritative and complete.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41648" y="132588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197096" y="960120"/>
            <a:ext cx="1783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78992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88536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88536" y="214884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skims. Formatting creates false sense of completeness. Trust triggered by polish.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0176" y="132588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6135624" y="960120"/>
            <a:ext cx="1783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39128" y="1078992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739128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27064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27064" y="214884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either trusts it, endlessly re-checks, or notices something off by accident.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18704" y="132588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Shape 26"/>
          <p:cNvSpPr/>
          <p:nvPr/>
        </p:nvSpPr>
        <p:spPr>
          <a:xfrm>
            <a:off x="8074152" y="960120"/>
            <a:ext cx="1783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77656" y="1078992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677656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65592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65592" y="214884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fixes the obvious — but has no signal about what else might still be wrong.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57232" y="132588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12680" y="960120"/>
            <a:ext cx="1783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616184" y="1078992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10616184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0412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104120" y="2148840"/>
            <a:ext cx="1600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ships. Sometimes with undetected flaws still embedded.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42232" y="3657600"/>
            <a:ext cx="187452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42232" y="3657600"/>
            <a:ext cx="1874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4233672" y="3749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1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33672" y="409651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Over-trust triggered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polished formatting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80760" y="3657600"/>
            <a:ext cx="187452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657600"/>
            <a:ext cx="1874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3749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409651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path exists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19288" y="3657600"/>
            <a:ext cx="1874520" cy="15087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19288" y="3657600"/>
            <a:ext cx="1874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8110728" y="37490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110728" y="409651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surface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action is taken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5321808"/>
            <a:ext cx="12161520" cy="15361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5413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577900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structured moment in the Claude experience where users are supported in evaluating whether an output is actually good enough. The product was built for speed — and it removed the evaluation layer in the process.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directions explored against 5 design principles — only one resolves all tensions simultaneously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1216152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Preserve speed by default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51760" y="822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scrutiny only when needed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0" y="822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Make evaluation legible, not opaque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0" y="822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Support human judgment — never automate 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84080" y="822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Match depth to task stakes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444752"/>
            <a:ext cx="3611880" cy="4462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444752"/>
            <a:ext cx="3611880" cy="64008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" y="157276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" y="188366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Lens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Review Mode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" y="26517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2064" y="2889504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Claude infers the task type from the user's prompt and tailors both the answer and the review criteria to it (e.g. coding, research, or career).</a:t>
            </a:r>
          </a:p>
        </p:txBody>
      </p:sp>
      <p:sp>
        <p:nvSpPr>
          <p:cNvPr id="17" name="Text 15"/>
          <p:cNvSpPr/>
          <p:nvPr/>
        </p:nvSpPr>
        <p:spPr>
          <a:xfrm>
            <a:off x="512064" y="38404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2064" y="407822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Zero upfront friction. Keeps Claude's speed-preserving core while offering a post-answer review chip.</a:t>
            </a:r>
          </a:p>
        </p:txBody>
      </p:sp>
      <p:sp>
        <p:nvSpPr>
          <p:cNvPr id="19" name="Text 17"/>
          <p:cNvSpPr/>
          <p:nvPr/>
        </p:nvSpPr>
        <p:spPr>
          <a:xfrm>
            <a:off x="512064" y="46451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2064" y="48828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Still depends on Claude correctly inferring the task lens, and the review format can feel slightly abstract.</a:t>
            </a:r>
          </a:p>
        </p:txBody>
      </p:sp>
      <p:sp>
        <p:nvSpPr>
          <p:cNvPr id="21" name="Shape 19"/>
          <p:cNvSpPr/>
          <p:nvPr/>
        </p:nvSpPr>
        <p:spPr>
          <a:xfrm>
            <a:off x="4233672" y="1444752"/>
            <a:ext cx="3611880" cy="4462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33672" y="1444752"/>
            <a:ext cx="361188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4370832" y="157276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4370832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98264" y="188366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Paths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98264" y="26517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98264" y="2889504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Surfaced only on ambiguous/high-stakes prompts. Claude previews 2–3 possible ways it could approach the task (e.g. fast, risk-aware).</a:t>
            </a:r>
          </a:p>
        </p:txBody>
      </p:sp>
      <p:sp>
        <p:nvSpPr>
          <p:cNvPr id="28" name="Text 26"/>
          <p:cNvSpPr/>
          <p:nvPr/>
        </p:nvSpPr>
        <p:spPr>
          <a:xfrm>
            <a:off x="4398264" y="38404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98264" y="407822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Allows users to steer the response strategy before Claude commits, making the reasoning strategy visible.</a:t>
            </a:r>
          </a:p>
        </p:txBody>
      </p:sp>
      <p:sp>
        <p:nvSpPr>
          <p:cNvPr id="30" name="Text 28"/>
          <p:cNvSpPr/>
          <p:nvPr/>
        </p:nvSpPr>
        <p:spPr>
          <a:xfrm>
            <a:off x="4398264" y="46451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98264" y="48828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Still introduces a moment of hesitation before users see value. Risks feeling fragile in conversational speed.</a:t>
            </a:r>
          </a:p>
        </p:txBody>
      </p:sp>
      <p:sp>
        <p:nvSpPr>
          <p:cNvPr id="32" name="Shape 30"/>
          <p:cNvSpPr/>
          <p:nvPr/>
        </p:nvSpPr>
        <p:spPr>
          <a:xfrm>
            <a:off x="8119872" y="1444752"/>
            <a:ext cx="3611880" cy="44622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19872" y="1444752"/>
            <a:ext cx="36118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8257032" y="157276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8257032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✓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84464" y="188366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Evaluation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Specialized Evaluators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84464" y="26517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84464" y="2889504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Claude answers first at full speed, then offers an optional evaluation layer where users route the answer through 6 specialized peer-evaluators (Code, Research, Writing, Reasoning, Career, Risk) and 3 playbooks (Balanced, Rigor, Style) powered by Llama 3.1 70B NIM models.</a:t>
            </a:r>
          </a:p>
        </p:txBody>
      </p:sp>
      <p:sp>
        <p:nvSpPr>
          <p:cNvPr id="39" name="Text 37"/>
          <p:cNvSpPr/>
          <p:nvPr/>
        </p:nvSpPr>
        <p:spPr>
          <a:xfrm>
            <a:off x="8284464" y="38404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84464" y="407822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Opt-in = no speed friction by default. Outputs transparent checklists showing strengths, weaknesses, and a concrete 'Verify before use' manual checklist. No opaque trust scores.</a:t>
            </a:r>
          </a:p>
        </p:txBody>
      </p:sp>
      <p:sp>
        <p:nvSpPr>
          <p:cNvPr id="41" name="Text 39"/>
          <p:cNvSpPr/>
          <p:nvPr/>
        </p:nvSpPr>
        <p:spPr>
          <a:xfrm>
            <a:off x="8284464" y="46451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84464" y="48828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>
                <a:solidFill>
                  <a:srgbClr val="F0F0F0"/>
                </a:solidFill>
                <a:latin typeface="Arial"/>
              </a:rPr>
              <a:t>Slightly higher engineering effort than simple review chips because it requires evaluator orchestration, parallel NIM routing, and UI safeguards.</a:t>
            </a:r>
          </a:p>
        </p:txBody>
      </p:sp>
      <p:sp>
        <p:nvSpPr>
          <p:cNvPr id="43" name="Shape 41"/>
          <p:cNvSpPr/>
          <p:nvPr/>
        </p:nvSpPr>
        <p:spPr>
          <a:xfrm>
            <a:off x="0" y="5961888"/>
            <a:ext cx="121615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" y="5961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145536" y="596188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(0–10)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9744" y="596188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(0–3)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73952" y="596188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38160" y="5961888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(weeks)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02368" y="596188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Score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4048" y="5961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= (Reach × Impact × Confidence) / Effort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7472" y="6217920"/>
            <a:ext cx="11466576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02336" y="62179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Lens + Review Mode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145536" y="621792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54" name="Text 52"/>
          <p:cNvSpPr/>
          <p:nvPr/>
        </p:nvSpPr>
        <p:spPr>
          <a:xfrm>
            <a:off x="4809744" y="621792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2.5</a:t>
            </a:r>
          </a:p>
        </p:txBody>
      </p:sp>
      <p:sp>
        <p:nvSpPr>
          <p:cNvPr id="55" name="Text 53"/>
          <p:cNvSpPr/>
          <p:nvPr/>
        </p:nvSpPr>
        <p:spPr>
          <a:xfrm>
            <a:off x="6473952" y="621792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75%</a:t>
            </a:r>
          </a:p>
        </p:txBody>
      </p:sp>
      <p:sp>
        <p:nvSpPr>
          <p:cNvPr id="56" name="Text 54"/>
          <p:cNvSpPr/>
          <p:nvPr/>
        </p:nvSpPr>
        <p:spPr>
          <a:xfrm>
            <a:off x="8138160" y="621792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4.0</a:t>
            </a:r>
          </a:p>
        </p:txBody>
      </p:sp>
      <p:sp>
        <p:nvSpPr>
          <p:cNvPr id="57" name="Text 55"/>
          <p:cNvSpPr/>
          <p:nvPr/>
        </p:nvSpPr>
        <p:spPr>
          <a:xfrm>
            <a:off x="9802368" y="621792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3.28</a:t>
            </a:r>
          </a:p>
        </p:txBody>
      </p:sp>
      <p:sp>
        <p:nvSpPr>
          <p:cNvPr id="58" name="Shape 56"/>
          <p:cNvSpPr/>
          <p:nvPr/>
        </p:nvSpPr>
        <p:spPr>
          <a:xfrm>
            <a:off x="347472" y="6428232"/>
            <a:ext cx="11466576" cy="201168"/>
          </a:xfrm>
          <a:prstGeom prst="rect">
            <a:avLst/>
          </a:prstGeom>
          <a:solidFill>
            <a:srgbClr val="F4F9FB"/>
          </a:solidFill>
          <a:ln/>
        </p:spPr>
      </p:sp>
      <p:sp>
        <p:nvSpPr>
          <p:cNvPr id="59" name="Text 57"/>
          <p:cNvSpPr/>
          <p:nvPr/>
        </p:nvSpPr>
        <p:spPr>
          <a:xfrm>
            <a:off x="402336" y="6428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Decision Paths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145536" y="6428232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6.5</a:t>
            </a:r>
          </a:p>
        </p:txBody>
      </p:sp>
      <p:sp>
        <p:nvSpPr>
          <p:cNvPr id="61" name="Text 59"/>
          <p:cNvSpPr/>
          <p:nvPr/>
        </p:nvSpPr>
        <p:spPr>
          <a:xfrm>
            <a:off x="4809744" y="6428232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2.25</a:t>
            </a:r>
          </a:p>
        </p:txBody>
      </p:sp>
      <p:sp>
        <p:nvSpPr>
          <p:cNvPr id="62" name="Text 60"/>
          <p:cNvSpPr/>
          <p:nvPr/>
        </p:nvSpPr>
        <p:spPr>
          <a:xfrm>
            <a:off x="6473952" y="6428232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70%</a:t>
            </a:r>
          </a:p>
        </p:txBody>
      </p:sp>
      <p:sp>
        <p:nvSpPr>
          <p:cNvPr id="63" name="Text 61"/>
          <p:cNvSpPr/>
          <p:nvPr/>
        </p:nvSpPr>
        <p:spPr>
          <a:xfrm>
            <a:off x="8138160" y="6428232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3.5</a:t>
            </a:r>
          </a:p>
        </p:txBody>
      </p:sp>
      <p:sp>
        <p:nvSpPr>
          <p:cNvPr id="64" name="Text 62"/>
          <p:cNvSpPr/>
          <p:nvPr/>
        </p:nvSpPr>
        <p:spPr>
          <a:xfrm>
            <a:off x="9802368" y="6428232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2.93</a:t>
            </a:r>
          </a:p>
        </p:txBody>
      </p:sp>
      <p:sp>
        <p:nvSpPr>
          <p:cNvPr id="65" name="Shape 63"/>
          <p:cNvSpPr/>
          <p:nvPr/>
        </p:nvSpPr>
        <p:spPr>
          <a:xfrm>
            <a:off x="347472" y="6638544"/>
            <a:ext cx="11466576" cy="201168"/>
          </a:xfrm>
          <a:prstGeom prst="rect">
            <a:avLst/>
          </a:prstGeom>
          <a:solidFill>
            <a:srgbClr val="E6F9FC"/>
          </a:solidFill>
          <a:ln/>
        </p:spPr>
      </p:sp>
      <p:sp>
        <p:nvSpPr>
          <p:cNvPr id="66" name="Text 64"/>
          <p:cNvSpPr/>
          <p:nvPr/>
        </p:nvSpPr>
        <p:spPr>
          <a:xfrm>
            <a:off x="402336" y="66385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Eval + Evaluators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145536" y="6638544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 b="1">
                <a:solidFill>
                  <a:srgbClr val="00B4D8"/>
                </a:solidFill>
                <a:latin typeface="Arial"/>
              </a:rPr>
              <a:t>8.5</a:t>
            </a:r>
          </a:p>
        </p:txBody>
      </p:sp>
      <p:sp>
        <p:nvSpPr>
          <p:cNvPr id="68" name="Text 66"/>
          <p:cNvSpPr/>
          <p:nvPr/>
        </p:nvSpPr>
        <p:spPr>
          <a:xfrm>
            <a:off x="4809744" y="6638544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 b="1">
                <a:solidFill>
                  <a:srgbClr val="00B4D8"/>
                </a:solidFill>
                <a:latin typeface="Arial"/>
              </a:rPr>
              <a:t>3.0</a:t>
            </a:r>
          </a:p>
        </p:txBody>
      </p:sp>
      <p:sp>
        <p:nvSpPr>
          <p:cNvPr id="69" name="Text 67"/>
          <p:cNvSpPr/>
          <p:nvPr/>
        </p:nvSpPr>
        <p:spPr>
          <a:xfrm>
            <a:off x="6473952" y="6638544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 b="1">
                <a:solidFill>
                  <a:srgbClr val="00B4D8"/>
                </a:solidFill>
                <a:latin typeface="Arial"/>
              </a:rPr>
              <a:t>85%</a:t>
            </a:r>
          </a:p>
        </p:txBody>
      </p:sp>
      <p:sp>
        <p:nvSpPr>
          <p:cNvPr id="70" name="Text 68"/>
          <p:cNvSpPr/>
          <p:nvPr/>
        </p:nvSpPr>
        <p:spPr>
          <a:xfrm>
            <a:off x="8138160" y="6638544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 b="1">
                <a:solidFill>
                  <a:srgbClr val="00B4D8"/>
                </a:solidFill>
                <a:latin typeface="Arial"/>
              </a:rPr>
              <a:t>4.5</a:t>
            </a:r>
          </a:p>
        </p:txBody>
      </p:sp>
      <p:sp>
        <p:nvSpPr>
          <p:cNvPr id="71" name="Text 69"/>
          <p:cNvSpPr/>
          <p:nvPr/>
        </p:nvSpPr>
        <p:spPr>
          <a:xfrm>
            <a:off x="9802368" y="6638544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100" b="1">
                <a:solidFill>
                  <a:srgbClr val="00B4D8"/>
                </a:solidFill>
                <a:latin typeface="Arial"/>
              </a:rPr>
              <a:t>4.82</a:t>
            </a:r>
          </a:p>
        </p:txBody>
      </p:sp>
      <p:sp>
        <p:nvSpPr>
          <p:cNvPr id="72" name="Shape 70"/>
          <p:cNvSpPr/>
          <p:nvPr/>
        </p:nvSpPr>
        <p:spPr>
          <a:xfrm>
            <a:off x="7150608" y="5980176"/>
            <a:ext cx="2377440" cy="219456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73" name="Text 71">
            <a:hlinkClick r:id="rId1" tooltip=""/>
          </p:cNvPr>
          <p:cNvSpPr/>
          <p:nvPr/>
        </p:nvSpPr>
        <p:spPr>
          <a:xfrm>
            <a:off x="7150608" y="59801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 Survey Results →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656064" y="5980176"/>
            <a:ext cx="2377440" cy="219456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</p:sp>
      <p:sp>
        <p:nvSpPr>
          <p:cNvPr id="75" name="Text 73">
            <a:hlinkClick r:id="rId2" tooltip=""/>
          </p:cNvPr>
          <p:cNvSpPr/>
          <p:nvPr/>
        </p:nvSpPr>
        <p:spPr>
          <a:xfrm>
            <a:off x="9656064" y="59801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🎙  Interview Transcripts →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Evaluation with Specialized Evaluators wins on every dimension that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747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5394960" cy="2011680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394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184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friction for satisfied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responds at full speed. Evaluation is completely opt-in. Users who are confident proceed normally — no slowdown, no 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2011680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417320"/>
            <a:ext cx="5394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6184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086600" y="1600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Task-specific, not generic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130552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Evaluator checks different things than a Research or Career Evaluator. Specificity makes findings actionable rather than boilerplate.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30168"/>
            <a:ext cx="5394960" cy="2011680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30168"/>
            <a:ext cx="5394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313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381304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— not another black box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34340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evaluator explains what it checked, what looks strong, what is weak, and what requires independent verification. No mystery verdict.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630168"/>
            <a:ext cx="5394960" cy="2011680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630168"/>
            <a:ext cx="5394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8313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86600" y="381304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Serves both user types simultaneously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34340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Over-trusters get a structured nudge to review. Skeptics get a focused path instead of re-posting to 3 AIs. Both build calibration over time.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5623560"/>
            <a:ext cx="12161520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687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FOR ANTHROPIC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who complete high-stakes tasks confidently retain longer, upgrade to Pro, and deepen usage. Every avoided trust failure is a retained user. Every calibrated evaluation is a stronger argument for paying for Claude.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flow: fast by default, structured on demand — with a real evaluator output example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0058400" y="91440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00B4D8"/>
          </a:solidFill>
          <a:ln/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10058400" y="9144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Live Prototype 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7830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102412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1024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PROMPTS CLAUDE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1600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describes their task. Claude may ask one clarifying question before responding — especially for high-stakes domains.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03120" y="128016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2258568" y="914400"/>
            <a:ext cx="17830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62072" y="1024128"/>
            <a:ext cx="566928" cy="56692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2862072" y="1024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50008" y="16916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NORMALLY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50008" y="2167128"/>
            <a:ext cx="1600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fast response as usual. No added friction at this stage. Confident users proceed directly.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41648" y="128016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4197096" y="914400"/>
            <a:ext cx="17830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2412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24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88536" y="16916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THIS ANSWER?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88536" y="2167128"/>
            <a:ext cx="1600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Subtle, non-intrusive CTA appears after the response. Claude may recommend a specific evaluator based on detected task type.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0176" y="128016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135624" y="914400"/>
            <a:ext cx="17830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39128" y="102412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739128" y="1024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27064" y="16916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EVALUATOR(S)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2167128"/>
            <a:ext cx="1600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from: Code · Research · Writing · Reasoning · Risk · Career. Multi-select available for complex outputs.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18704" y="128016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8074152" y="914400"/>
            <a:ext cx="17830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77656" y="102412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677656" y="1024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65592" y="16916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INSPECT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65592" y="2167128"/>
            <a:ext cx="1600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evaluator checks its domain: what is strong, what may be weak, what assumptions were made, what to verify.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857232" y="1280160"/>
            <a:ext cx="155448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12680" y="914400"/>
            <a:ext cx="17830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616184" y="102412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10616184" y="1024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104120" y="169164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DECIDES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104120" y="2167128"/>
            <a:ext cx="1600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answer · Ask Claude to revise · Try a different approach. Final judgment stays with the user.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703320"/>
            <a:ext cx="115214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703320"/>
            <a:ext cx="115214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803904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— Code Evaluator on a WCF/OMS basket-order business rule (from task observation with Pratham)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" y="4224528"/>
            <a:ext cx="3611880" cy="2359152"/>
          </a:xfrm>
          <a:prstGeom prst="rect">
            <a:avLst/>
          </a:prstGeom>
          <a:solidFill>
            <a:srgbClr val="F4F9FB"/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" y="4224528"/>
            <a:ext cx="3611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" y="4315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85216" y="4700016"/>
            <a:ext cx="338328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 match the described OMS structure. WCF service creation pattern is correct. iBasketService follows your company's established convention.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270248" y="4224528"/>
            <a:ext cx="3611880" cy="2359152"/>
          </a:xfrm>
          <a:prstGeom prst="rect">
            <a:avLst/>
          </a:prstGeom>
          <a:solidFill>
            <a:srgbClr val="F4F9FB"/>
          </a:solidFill>
          <a:ln/>
        </p:spPr>
      </p:sp>
      <p:sp>
        <p:nvSpPr>
          <p:cNvPr id="49" name="Shape 47"/>
          <p:cNvSpPr/>
          <p:nvPr/>
        </p:nvSpPr>
        <p:spPr>
          <a:xfrm>
            <a:off x="4270248" y="4224528"/>
            <a:ext cx="36118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4379976" y="4315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VERIFY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379976" y="4700016"/>
            <a:ext cx="338328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'instrumentType' was assumed — confirm this exists in your platform. Your codebase uses 'securityType'. This mismatch will cause a silent save failure.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065008" y="4224528"/>
            <a:ext cx="3611880" cy="2359152"/>
          </a:xfrm>
          <a:prstGeom prst="rect">
            <a:avLst/>
          </a:prstGeom>
          <a:solidFill>
            <a:srgbClr val="F4F9FB"/>
          </a:solidFill>
          <a:ln/>
        </p:spPr>
      </p:sp>
      <p:sp>
        <p:nvSpPr>
          <p:cNvPr id="53" name="Shape 51"/>
          <p:cNvSpPr/>
          <p:nvPr/>
        </p:nvSpPr>
        <p:spPr>
          <a:xfrm>
            <a:off x="8065008" y="4224528"/>
            <a:ext cx="36118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4" name="Text 52"/>
          <p:cNvSpPr/>
          <p:nvPr/>
        </p:nvSpPr>
        <p:spPr>
          <a:xfrm>
            <a:off x="8174736" y="4315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 MISSING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174736" y="4700016"/>
            <a:ext cx="338328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for LTP price mismatch is not addressed. Edge case: what happens if the price feed fails mid-trade? Crores of exposure at a single incorrect click.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specialized evaluators — each inspects a distinct dimension and explains its findings, never just scores them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3611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361188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1143000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143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17957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Evaluator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1801368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" y="2075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fit for stated stack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240487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keyword validity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" y="273405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error handling gaps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" y="306324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assessment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06240" y="960120"/>
            <a:ext cx="3611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960120"/>
            <a:ext cx="36118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114300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370832" y="1143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47488" y="117957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Evaluator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0832" y="1801368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62272" y="2075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recency &amp; authority level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62272" y="240487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coverage vs gaps in answer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62272" y="273405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evidence surfaced?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62272" y="306324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vs evidence alignment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960120"/>
            <a:ext cx="3611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960120"/>
            <a:ext cx="3611880" cy="64008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1143000"/>
            <a:ext cx="566928" cy="566928"/>
          </a:xfrm>
          <a:prstGeom prst="ellipse">
            <a:avLst/>
          </a:prstGeom>
          <a:solidFill>
            <a:srgbClr val="0096B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1143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06256" y="117957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Evaluator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1801368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2075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chain validity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21040" y="240487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assumptions made explicit?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21040" y="273405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interpretations noted?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21040" y="306324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unsupported inferences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7472" y="3749040"/>
            <a:ext cx="3611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3749040"/>
            <a:ext cx="3611880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6" name="Shape 34"/>
          <p:cNvSpPr/>
          <p:nvPr/>
        </p:nvSpPr>
        <p:spPr>
          <a:xfrm>
            <a:off x="512064" y="3931920"/>
            <a:ext cx="566928" cy="566928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" y="3931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188720" y="396849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Evaluator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2064" y="4590288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" y="486460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audience match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03504" y="51937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of argument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3504" y="552297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vs specific language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03504" y="585216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flow &amp; clarity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06240" y="3749040"/>
            <a:ext cx="3611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0" y="3749040"/>
            <a:ext cx="361188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6" name="Shape 44"/>
          <p:cNvSpPr/>
          <p:nvPr/>
        </p:nvSpPr>
        <p:spPr>
          <a:xfrm>
            <a:off x="4370832" y="393192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7" name="Text 45"/>
          <p:cNvSpPr/>
          <p:nvPr/>
        </p:nvSpPr>
        <p:spPr>
          <a:xfrm>
            <a:off x="4370832" y="3931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047488" y="396849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Evaluator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370832" y="4590288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62272" y="486460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/ operational exposure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462272" y="51937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core assumptions fail?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462272" y="552297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or compliance flags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462272" y="585216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 of recommendations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065008" y="3749040"/>
            <a:ext cx="3611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065008" y="3749040"/>
            <a:ext cx="3611880" cy="64008"/>
          </a:xfrm>
          <a:prstGeom prst="rect">
            <a:avLst/>
          </a:prstGeom>
          <a:solidFill>
            <a:srgbClr val="9D174D"/>
          </a:solidFill>
          <a:ln/>
        </p:spPr>
      </p:sp>
      <p:sp>
        <p:nvSpPr>
          <p:cNvPr id="56" name="Shape 54"/>
          <p:cNvSpPr/>
          <p:nvPr/>
        </p:nvSpPr>
        <p:spPr>
          <a:xfrm>
            <a:off x="8229600" y="3931920"/>
            <a:ext cx="566928" cy="566928"/>
          </a:xfrm>
          <a:prstGeom prst="ellipse">
            <a:avLst/>
          </a:prstGeom>
          <a:solidFill>
            <a:srgbClr val="9D174D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0" y="3931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8906256" y="396849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Evaluator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229600" y="4590288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321040" y="486460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keyword match vs JD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321040" y="51937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specificity vs vague filler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321040" y="552297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vs job description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8321040" y="585216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culture fit signals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metrics, failure modes, and why solving this is worth it for Anthropic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5577840" cy="5925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55778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141732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447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79222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high-stakes sessions with ≥1 evaluator used → 'trust-activated sessions' as share of 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22576"/>
            <a:ext cx="14173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2257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activation rate by task type (code vs research vs career)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358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rate post-evaluation — are findings actionable?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4015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User-reported confidence delta before vs after evaluation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141732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319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42793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must not degrade &gt;10% — evaluation is async + opt-in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6451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ignore rate &gt;70% → trigger logic needs rethinking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50109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users relying solely on evaluator consensus alone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541264"/>
            <a:ext cx="53492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5632704"/>
            <a:ext cx="5321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“Trust in AI shouldn’t come from polish alone — it should come from structured support for human judgment.”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914400"/>
            <a:ext cx="565099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914400"/>
            <a:ext cx="565099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005840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RISKS &amp; MITIGATIONS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481328"/>
            <a:ext cx="565099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36208" y="1545336"/>
            <a:ext cx="749808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154533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95744" y="1536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 becomes a new black box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7648" y="1828800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finding must state what was checked and why. User can ask evaluator to explain.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2231136"/>
            <a:ext cx="565099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6208" y="2295144"/>
            <a:ext cx="749808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229514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95744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confidence from evaluator consensus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2578608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Evaluators report independently. No combined score. Residual uncertainty always stated.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2980944"/>
            <a:ext cx="565099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236208" y="3044952"/>
            <a:ext cx="749808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304495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95744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 overload — too many findings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27648" y="33284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 at 3–5 prioritised findings. User requests 'show more'. High-signal by default.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3730752"/>
            <a:ext cx="565099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6236208" y="3794760"/>
            <a:ext cx="749808" cy="2377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379476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95744" y="37856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don't know when to evaluate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27648" y="4078224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detects task type and contextually suggests the right evaluator. Smart CTA.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4480560"/>
            <a:ext cx="5650992" cy="235915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4480560"/>
            <a:ext cx="565099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45902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FOR ANTHROPIC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55080" y="495604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Retention: Users who trust their outputs stay. Every resolved trust failure is a retained professional subscriber.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355080" y="555040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Pro Upgrades: Evaluators available on Pro/Team → free users who experience the feature have a clear upgrade trigger.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55080" y="614476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Stickiness: Evaluator history and calibration data are Claude-specific — switching costs rise as users build trust patterns.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for Trust in High-Stakes AI Work</dc:title>
  <dc:subject>PptxGenJS Presentation</dc:subject>
  <dc:creator>PptxGenJS</dc:creator>
  <cp:lastModifiedBy>PptxGenJS</cp:lastModifiedBy>
  <cp:revision>1</cp:revision>
  <dcterms:created xsi:type="dcterms:W3CDTF">2026-06-02T13:00:34Z</dcterms:created>
  <dcterms:modified xsi:type="dcterms:W3CDTF">2026-06-02T13:00:34Z</dcterms:modified>
</cp:coreProperties>
</file>